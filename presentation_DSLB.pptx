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s9v2_image-1-1.png"/><Relationship Id="rId2" Type="http://schemas.openxmlformats.org/officeDocument/2006/relationships/image" Target="../media/s9v2_image-1-2.png"/><Relationship Id="rId3" Type="http://schemas.openxmlformats.org/officeDocument/2006/relationships/image" Target="../media/s9v2_image-1-3.png"/><Relationship Id="rId3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p10_image-1-1.png"/><Relationship Id="rId2" Type="http://schemas.openxmlformats.org/officeDocument/2006/relationships/image" Target="../media/p10_image-1-2.png"/><Relationship Id="rId3" Type="http://schemas.openxmlformats.org/officeDocument/2006/relationships/image" Target="../media/p10_image-1-3.png"/><Relationship Id="rId4" Type="http://schemas.openxmlformats.org/officeDocument/2006/relationships/image" Target="../media/p10_image-1-4.png"/><Relationship Id="rId5" Type="http://schemas.openxmlformats.org/officeDocument/2006/relationships/image" Target="../media/p10_image-1-5.png"/><Relationship Id="rId9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5029200" cy="5029200"/>
          </a:xfrm>
          <a:prstGeom prst="ellipse">
            <a:avLst/>
          </a:prstGeom>
          <a:solidFill>
            <a:srgbClr val="2D8FA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365760"/>
            <a:ext cx="3474720" cy="3474720"/>
          </a:xfrm>
          <a:prstGeom prst="ellipse">
            <a:avLst/>
          </a:prstGeom>
          <a:solidFill>
            <a:srgbClr val="1A6B7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Lab in Biosciences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Deep Learning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Breast Cancer Classification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· Radiological Features · Late Feature-Level Fusion · Explainability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463040" cy="54864"/>
          </a:xfrm>
          <a:prstGeom prst="rect">
            <a:avLst/>
          </a:prstGeom>
          <a:solidFill>
            <a:srgbClr val="2DC65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Critical Audit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212080" cy="5120640"/>
          </a:xfrm>
          <a:prstGeom prst="roundRect">
            <a:avLst>
              <a:gd name="adj" fmla="val 2143"/>
            </a:avLst>
          </a:prstGeom>
          <a:solidFill>
            <a:srgbClr val="EBF5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3898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 + METABRIC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780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291840" y="213969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images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437 / 210 / 133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291840" y="279806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/ malignant / normal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3401568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291840" y="345643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3611880"/>
            <a:ext cx="4663440" cy="18288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490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CSV files (clinical + molecular) were provided alongside the images — from the METABRIC genomic study (UK/Canada, 2000–2005).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097280"/>
            <a:ext cx="5486400" cy="5120640"/>
          </a:xfrm>
          <a:prstGeom prst="roundRect">
            <a:avLst>
              <a:gd name="adj" fmla="val 2143"/>
            </a:avLst>
          </a:prstGeom>
          <a:solidFill>
            <a:srgbClr val="0F283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40880" y="138988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Audit Finding</a:t>
            </a:r>
            <a:endParaRPr lang="en-US" sz="15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84832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2057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IDs follow the METABRIC format (MB-XXXX), not BUSI's original naming.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907792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1228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labelled 'normal' show avg tumour size of 27 mm and invasive carcinoma diagnoses.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73075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12280" y="37033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correlation between class label and clinical variables (p &gt; 0.05).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55371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12280" y="45262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image–tabular linkage is artificial.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46520" y="521208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A6B7A"/>
          </a:solidFill>
          <a:ln/>
        </p:spPr>
      </p:sp>
      <p:sp>
        <p:nvSpPr>
          <p:cNvPr id="27" name="Text 19"/>
          <p:cNvSpPr/>
          <p:nvPr/>
        </p:nvSpPr>
        <p:spPr>
          <a:xfrm>
            <a:off x="6537960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extract tabular features directly from the images →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 refer to the same patient by construction.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6B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1691640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7260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99716" y="2240280"/>
            <a:ext cx="100584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854964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verification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image–clinical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 is artificial.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00300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6B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691640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36876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799332" y="2240280"/>
            <a:ext cx="100584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2354580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of 9 blocks frozen;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learning).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899916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6B7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116" y="1691640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6492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298948" y="2240280"/>
            <a:ext cx="100584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18" name="Text 13"/>
          <p:cNvSpPr/>
          <p:nvPr/>
        </p:nvSpPr>
        <p:spPr>
          <a:xfrm>
            <a:off x="3854196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features: 7 intensity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+ 4 GLCM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descriptors.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399532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6B7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1691640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36108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798564" y="2240280"/>
            <a:ext cx="100584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23" name="Text 17"/>
          <p:cNvSpPr/>
          <p:nvPr/>
        </p:nvSpPr>
        <p:spPr>
          <a:xfrm>
            <a:off x="5353812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11→64→32→3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radiological features.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899148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2D8FA0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6348" y="1691640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35724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8298180" y="2240280"/>
            <a:ext cx="100584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28" name="Text 21"/>
          <p:cNvSpPr/>
          <p:nvPr/>
        </p:nvSpPr>
        <p:spPr>
          <a:xfrm>
            <a:off x="6853428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feature-level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fusion. Frozen encoders;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head trained (2.1%).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8398764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6B7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5964" y="1691640"/>
            <a:ext cx="475488" cy="4754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35340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9797796" y="2240280"/>
            <a:ext cx="100584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33" name="Text 25"/>
          <p:cNvSpPr/>
          <p:nvPr/>
        </p:nvSpPr>
        <p:spPr>
          <a:xfrm>
            <a:off x="8353044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F1-macro,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 set for all.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9898380" y="1463040"/>
            <a:ext cx="1389888" cy="1554480"/>
          </a:xfrm>
          <a:prstGeom prst="roundRect">
            <a:avLst>
              <a:gd name="adj" fmla="val 6579"/>
            </a:avLst>
          </a:prstGeom>
          <a:solidFill>
            <a:srgbClr val="1A6B7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5580" y="1691640"/>
            <a:ext cx="475488" cy="4754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934956" y="2286000"/>
            <a:ext cx="13167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9852660" y="3200400"/>
            <a:ext cx="14813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 CNN;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on MLP.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— EfficientNet-B0 (Transfer Learning)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5303520" cy="5074920"/>
          </a:xfrm>
          <a:prstGeom prst="roundRect">
            <a:avLst>
              <a:gd name="adj" fmla="val 2162"/>
            </a:avLst>
          </a:prstGeom>
          <a:solidFill>
            <a:srgbClr val="0F28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1371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training choices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39112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01168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 — reuses learned filters for edges, textures and shapes.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7063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74320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7 of 9 blocks frozen: prevents catastrophic forgetting on a small dataset.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02152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47472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 blocks + head trainable (~28 % of parameters).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233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20624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CrossEntropy loss + early stopping.</a:t>
            </a:r>
            <a:endParaRPr lang="en-US" sz="11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965192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234440" y="4937760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1280-dim feature vector used by the fusion model.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6263640" y="1097280"/>
            <a:ext cx="5349240" cy="5074920"/>
          </a:xfrm>
          <a:prstGeom prst="roundRect">
            <a:avLst>
              <a:gd name="adj" fmla="val 2162"/>
            </a:avLst>
          </a:prstGeom>
          <a:solidFill>
            <a:srgbClr val="EBF5F7"/>
          </a:solidFill>
          <a:ln/>
        </p:spPr>
      </p:sp>
      <p:sp>
        <p:nvSpPr>
          <p:cNvPr id="18" name="Text 10"/>
          <p:cNvSpPr/>
          <p:nvPr/>
        </p:nvSpPr>
        <p:spPr>
          <a:xfrm>
            <a:off x="6492240" y="12344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ultrasound images from the dataset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1737360"/>
            <a:ext cx="1600200" cy="1600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92240" y="3383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1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1737360"/>
            <a:ext cx="1600200" cy="160020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339328" y="3383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6416" y="1737360"/>
            <a:ext cx="1600200" cy="160020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10186416" y="3383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Text 14"/>
          <p:cNvSpPr/>
          <p:nvPr/>
        </p:nvSpPr>
        <p:spPr>
          <a:xfrm>
            <a:off x="6492240" y="40690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224×224 px, ImageNet normalisation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(train only): horizontal flip, ±15° rotation</a:t>
            </a:r>
            <a:endParaRPr lang="en-US" sz="1100" dirty="0"/>
          </a:p>
        </p:txBody>
      </p:sp>
      <p:sp>
        <p:nvSpPr>
          <p:cNvPr id="26" name="Shape 15"/>
          <p:cNvSpPr/>
          <p:nvPr/>
        </p:nvSpPr>
        <p:spPr>
          <a:xfrm>
            <a:off x="6492240" y="48463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1A6B7A"/>
          </a:solidFill>
          <a:ln/>
        </p:spPr>
      </p:sp>
      <p:sp>
        <p:nvSpPr>
          <p:cNvPr id="27" name="Text 16"/>
          <p:cNvSpPr/>
          <p:nvPr/>
        </p:nvSpPr>
        <p:spPr>
          <a:xfrm>
            <a:off x="6583680" y="4919472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Accuracy 0.761 — F1-macro 0.752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recall: 1.000 | Benign recall: 0.621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Radiological Feature Extraction (11 features)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extracted from raw pixel values only — no segmentation mask used.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0F283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statistics (×7)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the global intensity histogram of the image.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is treated independently.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36576" cy="256032"/>
          </a:xfrm>
          <a:prstGeom prst="rect">
            <a:avLst/>
          </a:prstGeom>
          <a:solidFill>
            <a:srgbClr val="2D8FA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34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mean_intensity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303580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pixel brightness — overall brightness level of the image.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3401568"/>
            <a:ext cx="36576" cy="256032"/>
          </a:xfrm>
          <a:prstGeom prst="rect">
            <a:avLst/>
          </a:prstGeom>
          <a:solidFill>
            <a:srgbClr val="2D8FA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std_intensity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60120" y="3602736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of pixel values — high std = high contrast between regions.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" y="3968496"/>
            <a:ext cx="36576" cy="256032"/>
          </a:xfrm>
          <a:prstGeom prst="rect">
            <a:avLst/>
          </a:prstGeom>
          <a:solidFill>
            <a:srgbClr val="2D8F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68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4169664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Asymmetry of the distribution — positive = many dark pixels with few bright ones.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4535424"/>
            <a:ext cx="36576" cy="256032"/>
          </a:xfrm>
          <a:prstGeom prst="rect">
            <a:avLst/>
          </a:prstGeom>
          <a:solidFill>
            <a:srgbClr val="2D8FA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5354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4736592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weight — high value = many extreme pixels (very dark or very bright).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5102352"/>
            <a:ext cx="36576" cy="256032"/>
          </a:xfrm>
          <a:prstGeom prst="rect">
            <a:avLst/>
          </a:prstGeom>
          <a:solidFill>
            <a:srgbClr val="2D8FA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02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percentile_10 / 90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" y="5303520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10th and 90th percentile — robust bounds of the intensity range.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5669280"/>
            <a:ext cx="36576" cy="256032"/>
          </a:xfrm>
          <a:prstGeom prst="rect">
            <a:avLst/>
          </a:prstGeom>
          <a:solidFill>
            <a:srgbClr val="2D8FA0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669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dynamic_range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5870448"/>
            <a:ext cx="4663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− min pixel value — overall contrast span of the image.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150876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EB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69164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 texture descriptors (×4)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210312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Gray-Level Co-occurrence Matrix captures local texture by counting how often pixel pairs of given intensities appear adjacent. Computed in 4 directions (0°, 45°, 90°, 135°) and averaged for rotational invariance.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3108960"/>
            <a:ext cx="36576" cy="256032"/>
          </a:xfrm>
          <a:prstGeom prst="rect">
            <a:avLst/>
          </a:prstGeom>
          <a:solidFill>
            <a:srgbClr val="1A6B7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1089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glcm_contrast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33101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adjacent pixel values differ.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rough texture (common in malignant lesions).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3822192"/>
            <a:ext cx="36576" cy="256032"/>
          </a:xfrm>
          <a:prstGeom prst="rect">
            <a:avLst/>
          </a:prstGeom>
          <a:solidFill>
            <a:srgbClr val="1A6B7A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8221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glcm_correlation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9400" y="40233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predictability of local patterns.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regular, structured texture.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4535424"/>
            <a:ext cx="36576" cy="256032"/>
          </a:xfrm>
          <a:prstGeom prst="rect">
            <a:avLst/>
          </a:prstGeom>
          <a:solidFill>
            <a:srgbClr val="1A6B7A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45354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glcm_energy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29400" y="47365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uniformity (Angular Second Moment).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few dominant grey-level transitions.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92240" y="5248656"/>
            <a:ext cx="36576" cy="256032"/>
          </a:xfrm>
          <a:prstGeom prst="rect">
            <a:avLst/>
          </a:prstGeom>
          <a:solidFill>
            <a:srgbClr val="1A6B7A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524865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glcm_homogeneity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29400" y="54498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similarity of adjacent pixels.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smooth, gradual transitions.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5989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Haralick et al. (1973) — standard radiomics descriptors.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Fusion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1A6B7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789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feature-level fusion with frozen encoders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A6B7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04825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7592" y="192024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(frozen, 1280-dim)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324612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A6B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465576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7592" y="33375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encoder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(frozen, 32-dim)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0" y="2286000"/>
            <a:ext cx="548640" cy="566928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200400" y="3703320"/>
            <a:ext cx="548640" cy="-841248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822192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2D8FA0"/>
          </a:solidFill>
          <a:ln/>
        </p:spPr>
      </p:sp>
      <p:sp>
        <p:nvSpPr>
          <p:cNvPr id="15" name="Text 11"/>
          <p:cNvSpPr/>
          <p:nvPr/>
        </p:nvSpPr>
        <p:spPr>
          <a:xfrm>
            <a:off x="3822192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1312-dim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70448" y="3017520"/>
            <a:ext cx="411480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6327648" y="256032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0F2832"/>
          </a:solidFill>
          <a:ln/>
        </p:spPr>
      </p:sp>
      <p:sp>
        <p:nvSpPr>
          <p:cNvPr id="18" name="Text 14"/>
          <p:cNvSpPr/>
          <p:nvPr/>
        </p:nvSpPr>
        <p:spPr>
          <a:xfrm>
            <a:off x="6327648" y="25603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head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1312→64→3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75904" y="3017520"/>
            <a:ext cx="411480" cy="0"/>
          </a:xfrm>
          <a:prstGeom prst="line">
            <a:avLst/>
          </a:prstGeom>
          <a:noFill/>
          <a:ln w="19050">
            <a:solidFill>
              <a:srgbClr val="D8E8EC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8823960" y="260604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2DC653"/>
          </a:solidFill>
          <a:ln/>
        </p:spPr>
      </p:sp>
      <p:sp>
        <p:nvSpPr>
          <p:cNvPr id="21" name="Text 17"/>
          <p:cNvSpPr/>
          <p:nvPr/>
        </p:nvSpPr>
        <p:spPr>
          <a:xfrm>
            <a:off x="882396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36168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43434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 derive from the same image → genuine linkage, no artificial cross-patient assignment.</a:t>
            </a:r>
            <a:endParaRPr lang="en-US" sz="11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818888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4800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are frozen: only the fusion head (~84K params, 2.1 % of total) is trained.</a:t>
            </a:r>
            <a:endParaRPr lang="en-US" sz="11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276088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5257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head learns interactions between CNN spatial patterns and MLP global statistics.</a:t>
            </a:r>
            <a:endParaRPr lang="en-US" sz="11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733288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4400" y="57150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early fusion? Raw pixels and 11 statistics have incompatible scale and structure.</a:t>
            </a:r>
            <a:endParaRPr lang="en-US" sz="11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6190488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4400" y="6172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decision fusion? Concatenating intermediate vectors allows learning of feature interactions.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8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1064240" cy="27432"/>
          </a:xfrm>
          <a:prstGeom prst="rect">
            <a:avLst/>
          </a:prstGeom>
          <a:solidFill>
            <a:srgbClr val="1A6B7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43000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5138928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CNN vs Fusion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212080"/>
            <a:ext cx="94183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Grad-CAM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7772400" cy="5303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005840"/>
            <a:ext cx="3657600" cy="5303520"/>
          </a:xfrm>
          <a:prstGeom prst="roundRect">
            <a:avLst>
              <a:gd name="adj" fmla="val 3000"/>
            </a:avLst>
          </a:prstGeom>
          <a:solidFill>
            <a:srgbClr val="0F2832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1887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49640" y="1691640"/>
            <a:ext cx="36576" cy="2286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8" name="Text 5"/>
          <p:cNvSpPr/>
          <p:nvPr/>
        </p:nvSpPr>
        <p:spPr>
          <a:xfrm>
            <a:off x="8668512" y="16916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Red/yellow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68512" y="18928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most attended by the network when making its prediction.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549640" y="2441448"/>
            <a:ext cx="36576" cy="2286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1" name="Text 8"/>
          <p:cNvSpPr/>
          <p:nvPr/>
        </p:nvSpPr>
        <p:spPr>
          <a:xfrm>
            <a:off x="8668512" y="24414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68512" y="26426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influence on the decision.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549640" y="3191256"/>
            <a:ext cx="36576" cy="2286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4" name="Text 11"/>
          <p:cNvSpPr/>
          <p:nvPr/>
        </p:nvSpPr>
        <p:spPr>
          <a:xfrm>
            <a:off x="8668512" y="319125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column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68512" y="33924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mask — ground truth never seen during training.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549640" y="3941064"/>
            <a:ext cx="36576" cy="2286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7" name="Text 14"/>
          <p:cNvSpPr/>
          <p:nvPr/>
        </p:nvSpPr>
        <p:spPr>
          <a:xfrm>
            <a:off x="8668512" y="394106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result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68512" y="41422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region overlaps the lesion → the model localises it without supervision.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549640" y="4690872"/>
            <a:ext cx="36576" cy="228600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7"/>
          <p:cNvSpPr/>
          <p:nvPr/>
        </p:nvSpPr>
        <p:spPr>
          <a:xfrm>
            <a:off x="8668512" y="46908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result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668512" y="4892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region on borders or artefacts → decision based on spurious features.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SHAP (MLP)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804672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Text 2"/>
          <p:cNvSpPr/>
          <p:nvPr/>
        </p:nvSpPr>
        <p:spPr>
          <a:xfrm>
            <a:off x="516636" y="658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'benign'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" y="914400"/>
            <a:ext cx="3657600" cy="2606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65676" y="658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'malignant'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914400"/>
            <a:ext cx="365760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14716" y="6583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'normal'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914400"/>
            <a:ext cx="3657600" cy="260604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48640" y="3657600"/>
            <a:ext cx="11064240" cy="2971800"/>
          </a:xfrm>
          <a:prstGeom prst="roundRect">
            <a:avLst>
              <a:gd name="adj" fmla="val 3077"/>
            </a:avLst>
          </a:prstGeom>
          <a:solidFill>
            <a:srgbClr val="0F2832"/>
          </a:solidFill>
          <a:ln/>
        </p:spPr>
      </p:sp>
      <p:sp>
        <p:nvSpPr>
          <p:cNvPr id="11" name="Text 6"/>
          <p:cNvSpPr/>
          <p:nvPr/>
        </p:nvSpPr>
        <p:spPr>
          <a:xfrm>
            <a:off x="822960" y="3767328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summary plots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22960" y="4224528"/>
            <a:ext cx="36576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3" name="Text 8"/>
          <p:cNvSpPr/>
          <p:nvPr/>
        </p:nvSpPr>
        <p:spPr>
          <a:xfrm>
            <a:off x="941832" y="4224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axis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941832" y="44256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ranked by mean |SHAP value| — most important at the top.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822960" y="4882896"/>
            <a:ext cx="36576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6" name="Text 11"/>
          <p:cNvSpPr/>
          <p:nvPr/>
        </p:nvSpPr>
        <p:spPr>
          <a:xfrm>
            <a:off x="941832" y="488289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axis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41832" y="50840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zero → feature pushes toward that class; left → pushes against it.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22960" y="5541264"/>
            <a:ext cx="36576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19" name="Text 14"/>
          <p:cNvSpPr/>
          <p:nvPr/>
        </p:nvSpPr>
        <p:spPr>
          <a:xfrm>
            <a:off x="941832" y="554126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colour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41832" y="57424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high feature value; blue = low. Combining position and colour reveals the direction of the effect.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263640" y="4224528"/>
            <a:ext cx="36576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2" name="Text 17"/>
          <p:cNvSpPr/>
          <p:nvPr/>
        </p:nvSpPr>
        <p:spPr>
          <a:xfrm>
            <a:off x="6382512" y="42245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benign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382512" y="442569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kurtosis (red dots) on the right → high kurtosis increases the probability of benign.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263640" y="4882896"/>
            <a:ext cx="36576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5" name="Text 20"/>
          <p:cNvSpPr/>
          <p:nvPr/>
        </p:nvSpPr>
        <p:spPr>
          <a:xfrm>
            <a:off x="6382512" y="488289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malignant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382512" y="50840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D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glcm_energy (blue dots) on the left → low energy pushes against malignant; high energy (red) pushes toward it.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1064240" cy="27432"/>
          </a:xfrm>
          <a:prstGeom prst="rect">
            <a:avLst/>
          </a:prstGeom>
          <a:solidFill>
            <a:srgbClr val="D8E8E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11064240" cy="4572000"/>
          </a:xfrm>
          <a:prstGeom prst="roundRect">
            <a:avLst>
              <a:gd name="adj" fmla="val 2400"/>
            </a:avLst>
          </a:prstGeom>
          <a:solidFill>
            <a:srgbClr val="EBF5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167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801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linkage is artificial — and we proved it.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3000" y="1554480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statistical tests showed that the class label (from ultrasound images) is not explained by the clinical variables: patients labelled 'normal' carry invasive carcinoma diagnoses with an average tumour size of 27 mm.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15798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features from raw images solves the cross-modal linkage problem.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43000" y="2432304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deriving both modalities from the same image, we guarantee that CNN and MLP always refer to the same patient — something that external tabular datasets cannot provide.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72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0358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MLP alone is insufficient — but it adds value in combination.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143000" y="3310128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the MLP (accuracy 0.530) underperforms the dummy baseline (0.564): global intensity and texture statistics lack the spatial resolution needed for localised lesion classification. However, when combined with the CNN, the fusion reaches 0.803 — a +4.2 pp gain over CNN alone.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5020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91363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learns to localise lesions without explicit supervision.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1143000" y="4187952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heat maps concentrate on the lesion region visible in the segmentation masks — masks that were never shown to the model during training. This confirms the CNN extracts clinically relevant spatial patterns, not background artefacts.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28032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479145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and GLCM energy are the most discriminative radiological features.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1143000" y="5065776"/>
            <a:ext cx="1024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shows these two features have the largest and most consistent impact across patients for the malignant class — high kurtosis (many extreme pixel values) and low GLCM energy (heterogeneous texture) both push toward malignancy.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48640" y="576072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0F2832"/>
          </a:solidFill>
          <a:ln/>
        </p:spPr>
      </p:sp>
      <p:sp>
        <p:nvSpPr>
          <p:cNvPr id="21" name="Text 14"/>
          <p:cNvSpPr/>
          <p:nvPr/>
        </p:nvSpPr>
        <p:spPr>
          <a:xfrm>
            <a:off x="548640" y="576072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2026-07-20T22:25:29Z</dcterms:created>
  <dcterms:modified xsi:type="dcterms:W3CDTF">2026-07-20T22:25:29Z</dcterms:modified>
</cp:coreProperties>
</file>